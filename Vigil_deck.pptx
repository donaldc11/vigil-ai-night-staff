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 the one-liner, then go straight to the problem.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Label the numbers as estimates from our own research.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Point at each role. Stress: humans stay the face, AI works behind the scenes. Agents never make arrangements, that is for licensed staff.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Play demo.html here. About 60 seconds.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 honest and update the status line to the live count before presenting.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trust slide for judges.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Close on the pilot ask.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jpg"/><Relationship Id="rId4" Type="http://schemas.openxmlformats.org/officeDocument/2006/relationships/image" Target="../media/image2.jpg"/><Relationship Id="rId5" Type="http://schemas.openxmlformats.org/officeDocument/2006/relationships/image" Target="../media/image3.jpg"/><Relationship Id="rId6" Type="http://schemas.openxmlformats.org/officeDocument/2006/relationships/image" Target="../media/image4.jpg"/><Relationship Id="rId7" Type="http://schemas.openxmlformats.org/officeDocument/2006/relationships/image" Target="../media/image5.jpg"/><Relationship Id="rId8" Type="http://schemas.openxmlformats.org/officeDocument/2006/relationships/image" Target="../media/image6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5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55D68A"/>
                </a:solidFill>
              </a:rPr>
              <a:t>Vigil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6459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000">
                <a:solidFill>
                  <a:srgbClr val="E8E8E8"/>
                </a:solidFill>
              </a:rPr>
              <a:t>The AI night shift for family-owned funeral homes.</a:t>
            </a:r>
          </a:p>
          <a:p>
            <a:pPr>
              <a:spcAft>
                <a:spcPts val="1000"/>
              </a:spcAft>
            </a:pPr>
            <a:r>
              <a:rPr sz="3000">
                <a:solidFill>
                  <a:srgbClr val="E8E8E8"/>
                </a:solidFill>
              </a:rPr>
              <a:t>So no first call goes unanswered and no director loses sleep.</a:t>
            </a:r>
          </a:p>
          <a:p>
            <a:pPr>
              <a:spcAft>
                <a:spcPts val="1000"/>
              </a:spcAft>
            </a:pPr>
            <a:r>
              <a:rPr sz="3000">
                <a:solidFill>
                  <a:srgbClr val="E8E8E8"/>
                </a:solidFill>
              </a:rPr>
              <a:t>Track: Business / Growth / Productivity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30936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AAAAAA"/>
                </a:solidFill>
              </a:rPr>
              <a:t>Fictional data. Each sponsor integration shows its true mode; no real call is placed.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5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55D68A"/>
                </a:solidFill>
              </a:rP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6459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200">
                <a:solidFill>
                  <a:srgbClr val="E8E8E8"/>
                </a:solidFill>
              </a:rPr>
              <a:t>Roughly 15,400 US funeral homes, most family-owned on older software (our research estimate, not independently verified).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E8E8E8"/>
                </a:solidFill>
              </a:rPr>
              <a:t>A first call is worth roughly $6-8K. Nights and weekends are where homes lose it.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E8E8E8"/>
                </a:solidFill>
              </a:rPr>
              <a:t>Directors do not want another system of record. They want revenue protection and sleep.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30936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AAAAAA"/>
                </a:solidFill>
              </a:rPr>
              <a:t>Fictional data. Each sponsor integration shows its true mode; no real call is placed.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5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55D68A"/>
                </a:solidFill>
              </a:rPr>
              <a:t>Six workers, one human Director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6459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E8E8E8"/>
                </a:solidFill>
              </a:rPr>
              <a:t>Mara intake, Quinn quoter, Sol scheduler, Paige paperwork, Faye family liaison, Lex compliance logger. All report to the human Director.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E8E8E8"/>
                </a:solidFill>
              </a:rPr>
              <a:t>The Director approves every family message and every removal dispatch.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E8E8E8"/>
                </a:solidFill>
              </a:rPr>
              <a:t>Honest note: Mara and Faye are OpenAI-assisted ($3 cap, lint + approval + fallback). Quinn, Sol, Paige, Lex are deterministic code.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30936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AAAAAA"/>
                </a:solidFill>
              </a:rPr>
              <a:t>Fictional data. Each sponsor integration shows its true mode; no real call is placed.</a:t>
            </a:r>
          </a:p>
        </p:txBody>
      </p:sp>
      <p:pic>
        <p:nvPicPr>
          <p:cNvPr id="5" name="Picture 4" descr="mara_deck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4389120"/>
            <a:ext cx="1645920" cy="1645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6035040"/>
            <a:ext cx="1737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>
                <a:solidFill>
                  <a:srgbClr val="E8E8E8"/>
                </a:solidFill>
              </a:rPr>
              <a:t>Mara</a:t>
            </a:r>
          </a:p>
        </p:txBody>
      </p:sp>
      <p:pic>
        <p:nvPicPr>
          <p:cNvPr id="7" name="Picture 6" descr="quinn_deck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14600" y="4389120"/>
            <a:ext cx="1645920" cy="16459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2514600" y="6035040"/>
            <a:ext cx="1737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>
                <a:solidFill>
                  <a:srgbClr val="E8E8E8"/>
                </a:solidFill>
              </a:rPr>
              <a:t>Quinn</a:t>
            </a:r>
          </a:p>
        </p:txBody>
      </p:sp>
      <p:pic>
        <p:nvPicPr>
          <p:cNvPr id="9" name="Picture 8" descr="sol_deck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89120" y="4389120"/>
            <a:ext cx="1645920" cy="16459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389120" y="6035040"/>
            <a:ext cx="1737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>
                <a:solidFill>
                  <a:srgbClr val="E8E8E8"/>
                </a:solidFill>
              </a:rPr>
              <a:t>Sol</a:t>
            </a:r>
          </a:p>
        </p:txBody>
      </p:sp>
      <p:pic>
        <p:nvPicPr>
          <p:cNvPr id="11" name="Picture 10" descr="paige_deck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63640" y="4389120"/>
            <a:ext cx="1645920" cy="16459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263640" y="6035040"/>
            <a:ext cx="1737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>
                <a:solidFill>
                  <a:srgbClr val="E8E8E8"/>
                </a:solidFill>
              </a:rPr>
              <a:t>Paige</a:t>
            </a:r>
          </a:p>
        </p:txBody>
      </p:sp>
      <p:pic>
        <p:nvPicPr>
          <p:cNvPr id="13" name="Picture 12" descr="faye_deck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38159" y="4389120"/>
            <a:ext cx="1645920" cy="16459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138159" y="6035040"/>
            <a:ext cx="1737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>
                <a:solidFill>
                  <a:srgbClr val="E8E8E8"/>
                </a:solidFill>
              </a:rPr>
              <a:t>Faye</a:t>
            </a:r>
          </a:p>
        </p:txBody>
      </p:sp>
      <p:pic>
        <p:nvPicPr>
          <p:cNvPr id="15" name="Picture 14" descr="vera_deck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012680" y="4389120"/>
            <a:ext cx="1645920" cy="164592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0012680" y="6035040"/>
            <a:ext cx="1737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>
                <a:solidFill>
                  <a:srgbClr val="E8E8E8"/>
                </a:solidFill>
              </a:rPr>
              <a:t>Lex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39319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AAAAAA"/>
                </a:solidFill>
              </a:rPr>
              <a:t>avatars: Masky (AI, fictional)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5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55D68A"/>
                </a:solidFill>
              </a:rPr>
              <a:t>The loop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6459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200">
                <a:solidFill>
                  <a:srgbClr val="E8E8E8"/>
                </a:solidFill>
              </a:rPr>
              <a:t>Request: a family calls at 2 AM.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E8E8E8"/>
                </a:solidFill>
              </a:rPr>
              <a:t>Delegate: Mara classifies it as a first call, routes to Quinn, Sol, Paige.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E8E8E8"/>
                </a:solidFill>
              </a:rPr>
              <a:t>Act: GPL-based price range, on-call director, pre-filled paperwork.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E8E8E8"/>
                </a:solidFill>
              </a:rPr>
              <a:t>Check: Lex lints for recording disclosure and no arrangement-making.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E8E8E8"/>
                </a:solidFill>
              </a:rPr>
              <a:t>Approve: the Director signs off on the message and dispatch.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E8E8E8"/>
                </a:solidFill>
              </a:rPr>
              <a:t>Report and improve: case logged, intake checklist updated.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30936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AAAAAA"/>
                </a:solidFill>
              </a:rPr>
              <a:t>Fictional data. Each sponsor integration shows its true mode; no real call is placed.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5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55D68A"/>
                </a:solidFill>
              </a:rPr>
              <a:t>Sponsor tools, each with a job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6459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>
                <a:solidFill>
                  <a:srgbClr val="E8E8E8"/>
                </a:solidFill>
              </a:rPr>
              <a:t>n8n: workflow round trip: webhook sends a dispatch ticket to a live n8n workflow (it does not move a real removal team)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E8E8E8"/>
                </a:solidFill>
              </a:rPr>
              <a:t>RocketRide: run the intake pipeline on the call text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E8E8E8"/>
                </a:solidFill>
              </a:rPr>
              <a:t>Celesto: validate generated paperwork inside an isolated sandbox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E8E8E8"/>
                </a:solidFill>
              </a:rPr>
              <a:t>Snyk: dependency vulnerability scan; real findings (exit 1) block dispatch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E8E8E8"/>
                </a:solidFill>
              </a:rPr>
              <a:t>Prelint: PR compliance review of the agent spec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E8E8E8"/>
                </a:solidFill>
              </a:rPr>
              <a:t>Tenki: CI runner for the test suite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E8E8E8"/>
                </a:solidFill>
              </a:rPr>
              <a:t>BAND: post case updates into a BAND room with the Director as a participant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E8E8E8"/>
                </a:solidFill>
              </a:rPr>
              <a:t>Paritok: context compression gateway sitting between Vigil and the OpenAI API (prompts here are tiny, so savings are ~0; we label that)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E8E8E8"/>
                </a:solidFill>
              </a:rPr>
              <a:t>PromptQL: natural-language ledger queries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E8E8E8"/>
                </a:solidFill>
              </a:rPr>
              <a:t>Flatkey: model API / failover gateway (not a key vault)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E8E8E8"/>
                </a:solidFill>
              </a:rPr>
              <a:t>Masky: avatar for Faye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E8E8E8"/>
                </a:solidFill>
              </a:rPr>
              <a:t>Status shown per run in the demo: REAL / SIMULATED / FALLBACK / EXTERNAL. Today: n8n, Snyk, BAND real; Prelint external; 7 simulated.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30936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AAAAAA"/>
                </a:solidFill>
              </a:rPr>
              <a:t>Fictional data. Each sponsor integration shows its true mode; no real call is placed.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5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55D68A"/>
                </a:solidFill>
              </a:rPr>
              <a:t>Honesty and safety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6459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200">
                <a:solidFill>
                  <a:srgbClr val="E8E8E8"/>
                </a:solidFill>
              </a:rPr>
              <a:t>Fictional data only. No real calls, no real families. Phone numbers redacted to last 4.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E8E8E8"/>
                </a:solidFill>
              </a:rPr>
              <a:t>Every run reports which steps were real, simulated, fallback or external (55 automated tests).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E8E8E8"/>
                </a:solidFill>
              </a:rPr>
              <a:t>Compliance by design: inbound only, recording disclosure, GPL quotes, no arrangements.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E8E8E8"/>
                </a:solidFill>
              </a:rPr>
              <a:t>Human approval gates cannot be skipped; a declined approval stops the case.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30936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AAAAAA"/>
                </a:solidFill>
              </a:rPr>
              <a:t>Fictional data. Each sponsor integration shows its true mode; no real call is placed.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5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55D68A"/>
                </a:solidFill>
              </a:rPr>
              <a:t>What's next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6459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200">
                <a:solidFill>
                  <a:srgbClr val="E8E8E8"/>
                </a:solidFill>
              </a:rPr>
              <a:t>Swap mock adapters for live integrations, one at a time.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E8E8E8"/>
                </a:solidFill>
              </a:rPr>
              <a:t>Write into the funeral home's existing case software, not replace it.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E8E8E8"/>
                </a:solidFill>
              </a:rPr>
              <a:t>Pilot with one family-owned home.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E8E8E8"/>
                </a:solidFill>
              </a:rPr>
              <a:t>Ask: intros to state funeral director associations.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30936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AAAAAA"/>
                </a:solidFill>
              </a:rPr>
              <a:t>Fictional data. Each sponsor integration shows its true mode; no real call is placed.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